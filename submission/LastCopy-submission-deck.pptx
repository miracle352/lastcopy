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f257e1866644c4" /><Relationship Type="http://schemas.openxmlformats.org/officeDocument/2006/relationships/extended-properties" Target="/docProps/app.xml" Id="Rdd24d58a48cc45b7" /><Relationship Type="http://schemas.openxmlformats.org/officeDocument/2006/relationships/officeDocument" Target="/ppt/presentation.xml" Id="R0a04167c8c6c43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9328bf81ff4433"/>
  </p:sldMasterIdLst>
  <p:notesMasterIdLst>
    <p:notesMasterId xmlns:r="http://schemas.openxmlformats.org/officeDocument/2006/relationships" r:id="Raeca2b200e554544"/>
  </p:notesMasterIdLst>
  <p:sldIdLst>
    <p:sldId xmlns:r="http://schemas.openxmlformats.org/officeDocument/2006/relationships" id="256" r:id="R86ec2ddfc9954164"/>
    <p:sldId xmlns:r="http://schemas.openxmlformats.org/officeDocument/2006/relationships" id="257" r:id="Re5389edb7be14cf3"/>
    <p:sldId xmlns:r="http://schemas.openxmlformats.org/officeDocument/2006/relationships" id="258" r:id="Rd1f508fd146a49c0"/>
    <p:sldId xmlns:r="http://schemas.openxmlformats.org/officeDocument/2006/relationships" id="259" r:id="R944cbd97743c4665"/>
    <p:sldId xmlns:r="http://schemas.openxmlformats.org/officeDocument/2006/relationships" id="260" r:id="Rd6b2d2162b114d6c"/>
    <p:sldId xmlns:r="http://schemas.openxmlformats.org/officeDocument/2006/relationships" id="261" r:id="R6f54a8f526cd4e2d"/>
    <p:sldId xmlns:r="http://schemas.openxmlformats.org/officeDocument/2006/relationships" id="262" r:id="R862c8dc30f464187"/>
    <p:sldId xmlns:r="http://schemas.openxmlformats.org/officeDocument/2006/relationships" id="263" r:id="R0a925b41259e47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7d2b655414a81" /><Relationship Type="http://schemas.openxmlformats.org/officeDocument/2006/relationships/slideMaster" Target="/ppt/slideMasters/slideMaster1.xml" Id="Re49328bf81ff4433" /><Relationship Type="http://schemas.openxmlformats.org/officeDocument/2006/relationships/notesMaster" Target="/ppt/notesMasters/notesMaster1.xml" Id="Raeca2b200e554544" /><Relationship Type="http://schemas.openxmlformats.org/officeDocument/2006/relationships/presProps" Target="/ppt/presProps.xml" Id="R909db7f32da94e43" /><Relationship Type="http://schemas.openxmlformats.org/officeDocument/2006/relationships/tableStyles" Target="/ppt/tableStyles.xml" Id="R4e6a53d4fff54e7b" /><Relationship Type="http://schemas.openxmlformats.org/officeDocument/2006/relationships/slide" Target="/ppt/slides/slide1.xml" Id="R86ec2ddfc9954164" /><Relationship Type="http://schemas.openxmlformats.org/officeDocument/2006/relationships/slide" Target="/ppt/slides/slide2.xml" Id="Re5389edb7be14cf3" /><Relationship Type="http://schemas.openxmlformats.org/officeDocument/2006/relationships/slide" Target="/ppt/slides/slide3.xml" Id="Rd1f508fd146a49c0" /><Relationship Type="http://schemas.openxmlformats.org/officeDocument/2006/relationships/slide" Target="/ppt/slides/slide4.xml" Id="R944cbd97743c4665" /><Relationship Type="http://schemas.openxmlformats.org/officeDocument/2006/relationships/slide" Target="/ppt/slides/slide5.xml" Id="Rd6b2d2162b114d6c" /><Relationship Type="http://schemas.openxmlformats.org/officeDocument/2006/relationships/slide" Target="/ppt/slides/slide6.xml" Id="R6f54a8f526cd4e2d" /><Relationship Type="http://schemas.openxmlformats.org/officeDocument/2006/relationships/slide" Target="/ppt/slides/slide7.xml" Id="R862c8dc30f464187" /><Relationship Type="http://schemas.openxmlformats.org/officeDocument/2006/relationships/slide" Target="/ppt/slides/slide8.xml" Id="R0a925b41259e47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5fe9b37ca348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85b0bf8f714820" /><Relationship Type="http://schemas.openxmlformats.org/officeDocument/2006/relationships/notesMaster" Target="/ppt/notesMasters/notesMaster1.xml" Id="Rf9a6cabfbc5449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662367903a47fd" /><Relationship Type="http://schemas.openxmlformats.org/officeDocument/2006/relationships/notesMaster" Target="/ppt/notesMasters/notesMaster1.xml" Id="R26219302b284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b66c149e043b6" /><Relationship Type="http://schemas.openxmlformats.org/officeDocument/2006/relationships/notesMaster" Target="/ppt/notesMasters/notesMaster1.xml" Id="Rcfac74c5a8724a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0aebf5a7c74d82" /><Relationship Type="http://schemas.openxmlformats.org/officeDocument/2006/relationships/notesMaster" Target="/ppt/notesMasters/notesMaster1.xml" Id="R15312d499bae44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18eb51162c4ea5" /><Relationship Type="http://schemas.openxmlformats.org/officeDocument/2006/relationships/notesMaster" Target="/ppt/notesMasters/notesMaster1.xml" Id="Raa3a906c3b7b4d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b76318e2b640a4" /><Relationship Type="http://schemas.openxmlformats.org/officeDocument/2006/relationships/notesMaster" Target="/ppt/notesMasters/notesMaster1.xml" Id="Reef51b7f5f7f41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f702ae0d574e51" /><Relationship Type="http://schemas.openxmlformats.org/officeDocument/2006/relationships/notesMaster" Target="/ppt/notesMasters/notesMaster1.xml" Id="Rf4d0b3d172a140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7686b0320f4f00" /><Relationship Type="http://schemas.openxmlformats.org/officeDocument/2006/relationships/notesMaster" Target="/ppt/notesMasters/notesMaster1.xml" Id="Rce704dcc250b4b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LastCopy, Open Agent Hackathon 2026, Track 02: The Agent That Can Explain Why. Working product at https://lastcopy-five.vercel.app. No sponsor endorsement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fixture: fixtures/stage2/stranded and public /demo stranded case. Actual comparator finds two MISSING_SUBMISSION items while other records exist on the server. No field-user or adoption statistic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product capture: docs/verification/release-final/hosted-owner/evidence-390.png, 26 October 2026. Synthetic record. Source files, namespace-aware XML occurrence paths, values, media slot and evidence receipt are inspectable; raw inputs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actual connected capture, 26 October 2026: private/release-connected-export-retry; independently verified in docs/verification/release-final/connected-export-independent.json. Public receipts at web/public/verification/sponsor-export-review.json. Replay on the website; no live calls while viewing. Actual model: nvidia/nemotron-3.5-lightning-30b-a3b, reported by Nightshift.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docs/ARCHITECTURE.md; lastcopy/connected.py; lastcopy/investigation.py; bridge/investigation-world.ts. Small bounded CSV manifests are materialized in Zetaris NDP; no claim of heterogeneous in-place federation or cheap full-file scans from LIMIT. The pinned unchanged Apache-2.0 Meterless World Model reference is credited in THIRD_PARTY_NOTICES.md. Development used Codex desktop on Windows; Cursor was not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dedicated synthetic Central project 2. Original recovery and lost-acknowledgement/restart acceptance: docs/verification/cloud/restart-control-receipt.json and restart-control-events.jsonl. Fresh original XML/version/media readback on 26 October: docs/verification/release-final/recovery-summary.json (approved metadata summary; full readback retained privately on AWS). Repeated Apply was tested with transport writes forbidden; one matching instance remained. No new upload is claimed for 26 October. Source hashes retained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receipts: docs/verification/release-final. Actual network-disabled production container compared all five fixtures with zero provider calls and unchanged source files. Both fresh sponsor cases were independently recomputed. Human confirmed signup and password-reset email/sign-in. npm full/production audits: zero known advisories; 25 Python version entries checked against PyPI: none reported. Debian base-image advisories remain open; this is not independent security certification. Lighthouse goals remain goals, not field Core Web Vitals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draft, not an event submission. Demo: https://lastcopy-five.vercel.app/demo. Captured sponsor receipts: https://lastcopy-five.vercel.app/technical. Repository: https://github.com/miracle352/lastcopy remains private until the owner chooses judge access/publication. Official requirements verified 26 October at https://hackathon.genai.works/event/open-agent-hackathon-2026#rules. Deadline 27 October 23:45 UTC (28 October 00:45 Africa/Lagos). Current authenticated submission form fields remain for owner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9084fcaa1048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a8500dcb843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24d73f79245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cbeb931ab4b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a0a3185e347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c71a03a4d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F351F3-4AD7-45B6-BE03-7B9A318F7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F9C0C0-A15F-4360-B9EC-7DF317F39C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BC1AA5-4A67-4B0A-920F-C3483C361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2E67A6-12C0-4E21-A58E-476DA78D0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90C7F0-2BB8-4D52-919A-B33FB43994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0019AB-7961-494F-A224-6A5053FEF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A196D1-022E-497B-90B2-0AF1E72D0A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130092-F7FC-4668-A44D-F6F940BF02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D7FF60-0CD4-4075-A991-0B3BBBC25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D76130-E187-40FC-9619-2441D044D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0429ec1220479e" /><Relationship Type="http://schemas.openxmlformats.org/officeDocument/2006/relationships/slideLayout" Target="/ppt/slideLayouts/slideLayout1.xml" Id="Raebedb11b96e4f7a" /><Relationship Type="http://schemas.openxmlformats.org/officeDocument/2006/relationships/slideLayout" Target="/ppt/slideLayouts/slideLayout2.xml" Id="Rec9a4c96aacf4e9b" /><Relationship Type="http://schemas.openxmlformats.org/officeDocument/2006/relationships/slideLayout" Target="/ppt/slideLayouts/slideLayout3.xml" Id="Rc99e5228949f4758" /><Relationship Type="http://schemas.openxmlformats.org/officeDocument/2006/relationships/slideLayout" Target="/ppt/slideLayouts/slideLayout4.xml" Id="Rd0710c5e55dd445f" /><Relationship Type="http://schemas.openxmlformats.org/officeDocument/2006/relationships/slideLayout" Target="/ppt/slideLayouts/slideLayout5.xml" Id="R8c54131cd89d4c3f" /><Relationship Type="http://schemas.openxmlformats.org/officeDocument/2006/relationships/slideLayout" Target="/ppt/slideLayouts/slideLayout6.xml" Id="Reeb8ad29fc064e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edb11b96e4f7a"/>
    <p:sldLayoutId xmlns:r="http://schemas.openxmlformats.org/officeDocument/2006/relationships" id="2147483650" r:id="Rec9a4c96aacf4e9b"/>
    <p:sldLayoutId xmlns:r="http://schemas.openxmlformats.org/officeDocument/2006/relationships" id="2147483651" r:id="Rc99e5228949f4758"/>
    <p:sldLayoutId xmlns:r="http://schemas.openxmlformats.org/officeDocument/2006/relationships" id="2147483652" r:id="Rd0710c5e55dd445f"/>
    <p:sldLayoutId xmlns:r="http://schemas.openxmlformats.org/officeDocument/2006/relationships" id="2147483653" r:id="R8c54131cd89d4c3f"/>
    <p:sldLayoutId xmlns:r="http://schemas.openxmlformats.org/officeDocument/2006/relationships" id="2147483654" r:id="Reeb8ad29fc064e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e78ddf77a34363" /><Relationship Type="http://schemas.openxmlformats.org/officeDocument/2006/relationships/notesSlide" Target="/ppt/notesSlides/notesSlide1.xml" Id="R232d0d91a62f4d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c78e9cf1341f4" /><Relationship Type="http://schemas.openxmlformats.org/officeDocument/2006/relationships/notesSlide" Target="/ppt/notesSlides/notesSlide2.xml" Id="R741adad6302d4a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a75d920514dc6" /><Relationship Type="http://schemas.openxmlformats.org/officeDocument/2006/relationships/image" Target="/ppt/media/image.png" Id="Rcccafe9f0cba4d65" /><Relationship Type="http://schemas.openxmlformats.org/officeDocument/2006/relationships/notesSlide" Target="/ppt/notesSlides/notesSlide3.xml" Id="R9e46221f4a8d4c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5eddce5974e56" /><Relationship Type="http://schemas.openxmlformats.org/officeDocument/2006/relationships/notesSlide" Target="/ppt/notesSlides/notesSlide4.xml" Id="R4bb210b95b5344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a89ba667904410" /><Relationship Type="http://schemas.openxmlformats.org/officeDocument/2006/relationships/notesSlide" Target="/ppt/notesSlides/notesSlide5.xml" Id="R9443892fc3b940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ec99ce5b3a43fb" /><Relationship Type="http://schemas.openxmlformats.org/officeDocument/2006/relationships/notesSlide" Target="/ppt/notesSlides/notesSlide6.xml" Id="R6a44ee3d42124f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bf264cd384499" /><Relationship Type="http://schemas.openxmlformats.org/officeDocument/2006/relationships/notesSlide" Target="/ppt/notesSlides/notesSlide7.xml" Id="Red8b260f4a3144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8f615965c4291" /><Relationship Type="http://schemas.openxmlformats.org/officeDocument/2006/relationships/notesSlide" Target="/ppt/notesSlides/notesSlide8.xml" Id="Rb0bb5b4f8d2f41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99FC9-ED3A-42FF-9434-522213DD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2DBB3"/>
                </a:solidFill>
                <a:latin typeface="Arial"/>
                <a:ea typeface="Arial"/>
                <a:cs typeface="Arial"/>
              </a:rPr>
              <a:t>LastCopy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E675D-53DC-4C0E-9B25-F29F836D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defPPr>
            <a:lvl1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1pPr>
            <a:lvl2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2pPr>
            <a:lvl3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3pPr>
            <a:lvl4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4pPr>
            <a:lvl5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5pPr>
            <a:lvl6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6pPr>
            <a:lvl7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7pPr>
            <a:lvl8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8pPr>
            <a:lvl9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EAF5F0"/>
                </a:solidFill>
                <a:latin typeface="Georgia"/>
                <a:ea typeface="Georgia"/>
                <a:cs typeface="Georgia"/>
              </a:rPr>
              <a:t>Bring every</a:t>
            </a:r>
          </a:p>
          <a:p xmlns:a="http://schemas.openxmlformats.org/drawingml/2006/main">
            <a:pPr>
              <a:defRPr sz="66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EAF5F0"/>
                </a:solidFill>
                <a:latin typeface="Georgia"/>
                <a:ea typeface="Georgia"/>
                <a:cs typeface="Georgia"/>
              </a:rPr>
              <a:t>record 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51035-8403-4AEC-BD30-DCAE76E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Check that field forms, answers and photos reached the server.</a:t>
            </a:r>
          </a:p>
          <a:p xmlns:a="http://schemas.openxmlformats.org/drawingml/2006/main">
            <a:pPr>
              <a:defRPr sz="22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Recover supported gaps. Verify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6ABB4-D794-45CA-A3B8-3A102B9D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FC4"/>
                </a:solidFill>
                <a:latin typeface="Arial"/>
                <a:ea typeface="Arial"/>
                <a:cs typeface="Arial"/>
              </a:rPr>
              <a:t>OPEN AGENT 2026 · TRACK 02</a:t>
            </a:r>
          </a:p>
        </p:txBody>
      </p:sp>
    </p:spTree>
    <p:extLst>
      <p:ext uri="{BB962C8B-B14F-4D97-AF65-F5344CB8AC3E}">
        <p14:creationId xmlns:p14="http://schemas.microsoft.com/office/powerpoint/2010/main" val="191757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4F8B1-FE20-404E-9BC5-2422056B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060C0C"/>
                </a:solidFill>
                <a:latin typeface="Georgia"/>
                <a:ea typeface="Georgia"/>
                <a:cs typeface="Georgia"/>
              </a:rPr>
              <a:t>Record totals do not tell</a:t>
            </a:r>
          </a:p>
          <a:p xmlns:a="http://schemas.openxmlformats.org/drawingml/2006/main">
            <a: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060C0C"/>
                </a:solidFill>
                <a:latin typeface="Georgia"/>
                <a:ea typeface="Georgia"/>
                <a:cs typeface="Georgia"/>
              </a:rPr>
              <a:t>the whole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562BA-0392-4DF3-8065-0191DB75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defPPr>
            <a:lvl1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1pPr>
            <a:lvl2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2pPr>
            <a:lvl3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3pPr>
            <a:lvl4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4pPr>
            <a:lvl5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5pPr>
            <a:lvl6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6pPr>
            <a:lvl7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7pPr>
            <a:lvl8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8pPr>
            <a:lvl9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12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pPr>
            <a:r>
              <a:rPr sz="11250" b="0">
                <a:solidFill>
                  <a:srgbClr val="206451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A5A8C-6C0B-4DE7-99AF-15754061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stranded submissions in an authored control.</a:t>
            </a:r>
          </a:p>
          <a:p xmlns:a="http://schemas.openxmlformats.org/drawingml/2006/main">
            <a: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Other records still exist on the server.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8E5CC-CCAF-4128-8FC5-2DD938C1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A spreadsheet can omit repeats while the original XML retains every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66F16-1DF0-464C-9C20-A1EFEC2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Equal file bytes do not establish that every referenced filename is accessible.</a:t>
            </a:r>
          </a:p>
        </p:txBody>
      </p:sp>
    </p:spTree>
    <p:extLst>
      <p:ext uri="{BB962C8B-B14F-4D97-AF65-F5344CB8AC3E}">
        <p14:creationId xmlns:p14="http://schemas.microsoft.com/office/powerpoint/2010/main" val="6769986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58BB4-9F37-498F-9EA0-31BC4638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EAF5F0"/>
                </a:solidFill>
                <a:latin typeface="Georgia"/>
                <a:ea typeface="Georgia"/>
                <a:cs typeface="Georgia"/>
              </a:rPr>
              <a:t>A finding you can open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6D69E-5AE2-4A41-A5BA-89BD7F81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85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See the original file, precise XML occurrence</a:t>
            </a:r>
          </a:p>
          <a:p xmlns:a="http://schemas.openxmlformats.org/drawingml/2006/main">
            <a:pPr>
              <a:defRPr sz="240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and attachment reference.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46F30-500E-41C1-89D6-DD6950D6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572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2DBB3"/>
                </a:solidFill>
                <a:latin typeface="Arial"/>
                <a:ea typeface="Arial"/>
                <a:cs typeface="Arial"/>
              </a:rPr>
              <a:t>Add exports</a:t>
            </a:r>
          </a:p>
          <a:p xmlns:a="http://schemas.openxmlformats.org/drawingml/2006/main">
            <a: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2DBB3"/>
                </a:solidFill>
                <a:latin typeface="Arial"/>
                <a:ea typeface="Arial"/>
                <a:cs typeface="Arial"/>
              </a:rPr>
              <a:t>Check copies</a:t>
            </a:r>
          </a:p>
          <a:p xmlns:a="http://schemas.openxmlformats.org/drawingml/2006/main">
            <a: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2DBB3"/>
                </a:solidFill>
                <a:latin typeface="Arial"/>
                <a:ea typeface="Arial"/>
                <a:cs typeface="Arial"/>
              </a:rPr>
              <a:t>Review gaps</a:t>
            </a:r>
          </a:p>
          <a:p xmlns:a="http://schemas.openxmlformats.org/drawingml/2006/main">
            <a:pPr>
              <a:defRPr sz="22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2DBB3"/>
                </a:solidFill>
                <a:latin typeface="Arial"/>
                <a:ea typeface="Arial"/>
                <a:cs typeface="Arial"/>
              </a:rPr>
              <a:t>Verify recovery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E5BFB-6A13-49B7-8F00-FA6D2C7D3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afe9f0cba4d65"/>
          <a:stretch xmlns:a="http://schemas.openxmlformats.org/drawingml/2006/main"/>
        </p:blipFill>
        <p:spPr>
          <a:xfrm xmlns:a="http://schemas.openxmlformats.org/drawingml/2006/main">
            <a:off x="8662988" y="1476375"/>
            <a:ext cx="210502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60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4C02F-47A5-4AD8-939D-35B1350D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060C0C"/>
                </a:solidFill>
                <a:latin typeface="Georgia"/>
                <a:ea typeface="Georgia"/>
                <a:cs typeface="Georgia"/>
              </a:rPr>
              <a:t>The missing-answer hypothesis</a:t>
            </a:r>
          </a:p>
          <a:p xmlns:a="http://schemas.openxmlformats.org/drawingml/2006/main">
            <a: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060C0C"/>
                </a:solidFill>
                <a:latin typeface="Georgia"/>
                <a:ea typeface="Georgia"/>
                <a:cs typeface="Georgia"/>
              </a:rPr>
              <a:t>was rejected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A7DDC-4F78-4222-9A27-994FCE48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0C0C"/>
                </a:solidFill>
                <a:latin typeface="Arial"/>
                <a:ea typeface="Arial"/>
                <a:cs typeface="Arial"/>
              </a:rPr>
              <a:t>Missing answers?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5FDBB-2709-4FC3-8DBE-01A8EF6F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064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87F93-B0D0-4A92-B18F-A971E625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0C0C"/>
                </a:solidFill>
                <a:latin typeface="Arial"/>
                <a:ea typeface="Arial"/>
                <a:cs typeface="Arial"/>
              </a:rPr>
              <a:t>Read raw XML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88714-83CE-4F51-94F4-9A3C57BF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064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BBB2B-8137-4FFC-A1C0-A03A911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0C0C"/>
                </a:solidFill>
                <a:latin typeface="Arial"/>
                <a:ea typeface="Arial"/>
                <a:cs typeface="Arial"/>
              </a:rPr>
              <a:t>Guide the export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652F4-B5BD-4447-97E3-1504F3B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The reviewer requested the original XML. Repeated answers were present, so the plan changed to export guidance.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53A37-5D75-4264-B71A-EC8EFB39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6451"/>
                </a:solidFill>
                <a:latin typeface="Arial"/>
                <a:ea typeface="Arial"/>
                <a:cs typeface="Arial"/>
              </a:rPr>
              <a:t>Captured Connected run · 4 actual Zetaris queries · 3 Nightshift calls</a:t>
            </a:r>
          </a:p>
          <a:p xmlns:a="http://schemas.openxmlformats.org/drawingml/2006/main">
            <a: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6451"/>
                </a:solidFill>
                <a:latin typeface="Arial"/>
                <a:ea typeface="Arial"/>
                <a:cs typeface="Arial"/>
              </a:rPr>
              <a:t>2 critique rounds · World Model reads changed the next action</a:t>
            </a:r>
          </a:p>
        </p:txBody>
      </p:sp>
    </p:spTree>
    <p:extLst>
      <p:ext uri="{BB962C8B-B14F-4D97-AF65-F5344CB8AC3E}">
        <p14:creationId xmlns:p14="http://schemas.microsoft.com/office/powerpoint/2010/main" val="1541335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F0F8B-887E-4351-9951-23BFB2BB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EAF5F0"/>
                </a:solidFill>
                <a:latin typeface="Georgia"/>
                <a:ea typeface="Georgia"/>
                <a:cs typeface="Georgia"/>
              </a:rPr>
              <a:t>Evidence directs the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ABA27-FEDC-47D0-B04B-44B15C65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3BDF4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70CDB-74AF-42AA-A895-E342B126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Scoped evidence queries</a:t>
            </a:r>
          </a:p>
          <a:p xmlns:a="http://schemas.openxmlformats.org/drawingml/2006/main">
            <a: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Private source-object hashes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E07D2-7922-4132-99BA-F3723476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42DBB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D925E-0EF8-4B54-A573-0384E39E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2DBB3"/>
                </a:solidFill>
                <a:latin typeface="Arial"/>
                <a:ea typeface="Arial"/>
                <a:cs typeface="Arial"/>
              </a:rPr>
              <a:t>World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9E5A4-0DFE-4876-A278-4BF31A8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Provenance and revisions</a:t>
            </a:r>
          </a:p>
          <a:p xmlns:a="http://schemas.openxmlformats.org/drawingml/2006/main">
            <a: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Reads select unresolved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8A588-60C9-4749-8CFF-2E9754E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42DBB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62B53-EE54-44C4-A4A0-CD6A95E7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73BDF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3BDF4"/>
                </a:solidFill>
                <a:latin typeface="Arial"/>
                <a:ea typeface="Arial"/>
                <a:cs typeface="Arial"/>
              </a:rPr>
              <a:t>Nightshift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52102-CF3F-4990-A4F8-394B36C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Bounded investigator</a:t>
            </a:r>
          </a:p>
          <a:p xmlns:a="http://schemas.openxmlformats.org/drawingml/2006/main">
            <a:pPr>
              <a:defRPr sz="1950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and reviewer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E9FC0-292B-4757-9F88-70657F11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defPPr>
            <a:lvl1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1pPr>
            <a:lvl2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2pPr>
            <a:lvl3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3pPr>
            <a:lvl4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4pPr>
            <a:lvl5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5pPr>
            <a:lvl6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6pPr>
            <a:lvl7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7pPr>
            <a:lvl8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8pPr>
            <a:lvl9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EAF5F0"/>
                </a:solidFill>
                <a:latin typeface="Georgia"/>
                <a:ea typeface="Georgia"/>
                <a:cs typeface="Georgia"/>
              </a:rPr>
              <a:t>The deterministic verifier decides preservation.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1FBC1-1729-4731-88BE-48062BDF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FC4"/>
                </a:solidFill>
                <a:latin typeface="Arial"/>
                <a:ea typeface="Arial"/>
                <a:cs typeface="Arial"/>
              </a:rPr>
              <a:t>Python / FastAPI · Next.js / React · SQLite · ODK Central</a:t>
            </a:r>
          </a:p>
          <a:p xmlns:a="http://schemas.openxmlformats.org/drawingml/2006/main">
            <a:pPr>
              <a:defRPr sz="1800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FC4"/>
                </a:solidFill>
                <a:latin typeface="Arial"/>
                <a:ea typeface="Arial"/>
                <a:cs typeface="Arial"/>
              </a:rPr>
              <a:t>Models request evidence; they cannot alter verdicts or write field records.</a:t>
            </a:r>
          </a:p>
        </p:txBody>
      </p:sp>
    </p:spTree>
    <p:extLst>
      <p:ext uri="{BB962C8B-B14F-4D97-AF65-F5344CB8AC3E}">
        <p14:creationId xmlns:p14="http://schemas.microsoft.com/office/powerpoint/2010/main" val="696725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68514-EC8F-4239-B590-50305F4F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060C0C"/>
                </a:solidFill>
                <a:latin typeface="Georgia"/>
                <a:ea typeface="Georgia"/>
                <a:cs typeface="Georgia"/>
              </a:rPr>
              <a:t>Recovery is verified by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1F3DD-4B8A-4532-8D00-D81C7382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704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A missing submission was restored</a:t>
            </a:r>
          </a:p>
          <a:p xmlns:a="http://schemas.openxmlformats.org/drawingml/2006/main">
            <a:pPr>
              <a:defRPr sz="255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with its original identifier.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9F5D0-1927-40D5-B3D3-CCC352F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4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6451"/>
                </a:solidFill>
                <a:latin typeface="Arial"/>
                <a:ea typeface="Arial"/>
                <a:cs typeface="Arial"/>
              </a:rPr>
              <a:t>MISSING_SUBMISSION → PRESERVED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4B9C9-18A4-4EDB-967B-6E5F5B52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defPPr>
            <a:lvl1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1pPr>
            <a:lvl2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2pPr>
            <a:lvl3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3pPr>
            <a:lvl4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4pPr>
            <a:lvl5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5pPr>
            <a:lvl6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6pPr>
            <a:lvl7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7pPr>
            <a:lvl8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8pPr>
            <a:lvl9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88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pPr>
            <a:r>
              <a:rPr sz="8850" b="0">
                <a:solidFill>
                  <a:srgbClr val="206451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967FA-D690-4D20-98F2-0918E98F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matching instance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DDA91-F0A7-415A-8FF6-9E06E905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The upload completed before acknowledgement. After a restart,</a:t>
            </a:r>
          </a:p>
          <a:p xmlns:a="http://schemas.openxmlformats.org/drawingml/2006/main">
            <a:pPr>
              <a:defRPr sz="21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readback established preservation before another write was considered.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765F6-AC1F-48BA-ABD6-3C1DC369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6451"/>
                </a:solidFill>
                <a:latin typeface="Arial"/>
                <a:ea typeface="Arial"/>
                <a:cs typeface="Arial"/>
              </a:rPr>
              <a:t>Upload captured 25 October · fresh XML/media checked 26 October</a:t>
            </a:r>
          </a:p>
          <a:p xmlns:a="http://schemas.openxmlformats.org/drawingml/2006/main">
            <a:pPr>
              <a:defRPr sz="1800" b="0">
                <a:solidFill>
                  <a:srgbClr val="2064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6451"/>
                </a:solidFill>
                <a:latin typeface="Arial"/>
                <a:ea typeface="Arial"/>
                <a:cs typeface="Arial"/>
              </a:rPr>
              <a:t>Repeat Apply: no upload · originals unchanged</a:t>
            </a:r>
          </a:p>
        </p:txBody>
      </p:sp>
    </p:spTree>
    <p:extLst>
      <p:ext uri="{BB962C8B-B14F-4D97-AF65-F5344CB8AC3E}">
        <p14:creationId xmlns:p14="http://schemas.microsoft.com/office/powerpoint/2010/main" val="872327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6D8A3-5BAD-4A21-8596-ECF827E1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EAF5F0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EAF5F0"/>
                </a:solidFill>
                <a:latin typeface="Georgia"/>
                <a:ea typeface="Georgia"/>
                <a:cs typeface="Georgia"/>
              </a:rPr>
              <a:t>Checked paths and remaining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7E01C-5A7F-4F45-A9A5-02ABD642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42DB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2DBB3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99758-242E-450D-B488-D0BD5119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143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Offline comparisons without external network</a:t>
            </a:r>
          </a:p>
          <a:p xmlns:a="http://schemas.openxmlformats.org/drawingml/2006/main">
            <a: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Actual sponsor investigations and reviewer revision</a:t>
            </a:r>
          </a:p>
          <a:p xmlns:a="http://schemas.openxmlformats.org/drawingml/2006/main">
            <a: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Fresh Central readback; no duplicate on repeat</a:t>
            </a:r>
          </a:p>
          <a:p xmlns:a="http://schemas.openxmlformats.org/drawingml/2006/main">
            <a: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Signup and password reset confirmed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4156F-EDA1-44D3-8F92-0622B89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2B66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B66D"/>
                </a:solidFill>
                <a:latin typeface="Arial"/>
                <a:ea typeface="Arial"/>
                <a:cs typeface="Arial"/>
              </a:rPr>
              <a:t>Still to finish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1D851-6974-4978-BE22-E28D775E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Physical-phone automatic backup</a:t>
            </a:r>
          </a:p>
          <a:p xmlns:a="http://schemas.openxmlformats.org/drawingml/2006/main">
            <a: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Unattended off-host and full-system recovery</a:t>
            </a:r>
          </a:p>
          <a:p xmlns:a="http://schemas.openxmlformats.org/drawingml/2006/main">
            <a: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Independent security review and retention policy</a:t>
            </a:r>
          </a:p>
          <a:p xmlns:a="http://schemas.openxmlformats.org/drawingml/2006/main">
            <a:pPr>
              <a:defRPr sz="2025" b="0">
                <a:solidFill>
                  <a:srgbClr val="EA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0"/>
                </a:solidFill>
                <a:latin typeface="Arial"/>
                <a:ea typeface="Arial"/>
                <a:cs typeface="Arial"/>
              </a:rPr>
              <a:t>Remaining mobile performance goals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F4BDF-0A65-4774-B756-DD08A1A8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7CF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CFC4"/>
                </a:solidFill>
                <a:latin typeface="Arial"/>
                <a:ea typeface="Arial"/>
                <a:cs typeface="Arial"/>
              </a:rPr>
              <a:t>The hosted core works while the PC is off. The local sponsor runtime and emulator still require it.</a:t>
            </a:r>
          </a:p>
        </p:txBody>
      </p:sp>
    </p:spTree>
    <p:extLst>
      <p:ext uri="{BB962C8B-B14F-4D97-AF65-F5344CB8AC3E}">
        <p14:creationId xmlns:p14="http://schemas.microsoft.com/office/powerpoint/2010/main" val="1837637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F263A-5603-44E8-A92B-AD5E65AC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060C0C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060C0C"/>
                </a:solidFill>
                <a:latin typeface="Georgia"/>
                <a:ea typeface="Georgia"/>
                <a:cs typeface="Georgia"/>
              </a:rPr>
              <a:t>LastCopy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35232-F84D-4BFC-B9D9-C9365515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defPPr>
            <a:lvl1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1pPr>
            <a:lvl2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2pPr>
            <a:lvl3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3pPr>
            <a:lvl4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4pPr>
            <a:lvl5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5pPr>
            <a:lvl6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6pPr>
            <a:lvl7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7pPr>
            <a:lvl8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8pPr>
            <a:lvl9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206451"/>
                </a:solidFill>
                <a:latin typeface="Georgia"/>
                <a:ea typeface="Georgia"/>
                <a:cs typeface="Georgia"/>
              </a:rPr>
              <a:t>Keep the originals.</a:t>
            </a:r>
          </a:p>
          <a:p xmlns:a="http://schemas.openxmlformats.org/drawingml/2006/main">
            <a:pPr>
              <a:defRPr sz="3750" b="0">
                <a:solidFill>
                  <a:srgbClr val="206451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206451"/>
                </a:solidFill>
                <a:latin typeface="Georgia"/>
                <a:ea typeface="Georgia"/>
                <a:cs typeface="Georgia"/>
              </a:rPr>
              <a:t>Keep the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894D5-0C60-4744-96EE-D238283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Try without an account</a:t>
            </a:r>
          </a:p>
          <a:p xmlns:a="http://schemas.openxmlformats.org/drawingml/2006/main">
            <a:pPr>
              <a:defRPr sz="2400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lastcopy-five.vercel.app/demo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4FB71-2FEB-4EBE-8D3E-6018ADA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60C0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60C0C"/>
                </a:solidFill>
                <a:latin typeface="Arial"/>
                <a:ea typeface="Arial"/>
                <a:cs typeface="Arial"/>
              </a:rPr>
              <a:t>Next: independent device backup and stronger operational controls</a:t>
            </a:r>
          </a:p>
        </p:txBody>
      </p:sp>
    </p:spTree>
    <p:extLst>
      <p:ext uri="{BB962C8B-B14F-4D97-AF65-F5344CB8AC3E}">
        <p14:creationId xmlns:p14="http://schemas.microsoft.com/office/powerpoint/2010/main" val="208596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2026-10-26T10:47:30.1590000Z</dcterms:created>
  <dcterms:modified xsi:type="dcterms:W3CDTF">2026-10-26T10:47:30.1590000Z</dcterms:modified>
</coreProperties>
</file>